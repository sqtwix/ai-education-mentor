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9" r:id="rId6"/>
    <p:sldId id="273" r:id="rId7"/>
    <p:sldId id="261" r:id="rId8"/>
    <p:sldId id="262" r:id="rId9"/>
    <p:sldId id="271" r:id="rId10"/>
    <p:sldId id="270" r:id="rId11"/>
    <p:sldId id="263" r:id="rId12"/>
    <p:sldId id="272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25D"/>
    <a:srgbClr val="FBE9D0"/>
    <a:srgbClr val="171744"/>
    <a:srgbClr val="651D35"/>
    <a:srgbClr val="FEEFD9"/>
    <a:srgbClr val="F6365F"/>
    <a:srgbClr val="66FF66"/>
    <a:srgbClr val="FC5953"/>
    <a:srgbClr val="862646"/>
    <a:srgbClr val="D4D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42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generated-slides/slide-01-learning-path-2d.png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generated-slides/slide-02-catalog-choice-2d.png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generated-slides/slide-04-data-to-route-2d.png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generated-slides/slide-07-manual-research-2d.png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6A6FD-C20A-3E51-BA99-32FACF36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81409-A6D5-1671-3975-099DD76C4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D8DD7-81EF-ED55-49A7-24D8E7EC7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generated-slides/slide-07-manual-research-2d.png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C8A0C-BDA7-3161-0EEC-E98A8CC9682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628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FADED-87F4-DF6C-BBC6-A9781BF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CCC87-C4A2-58BA-99C2-FCD75B04E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756F6-E9A4-C823-B427-B50436393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generated-slides/slide-07-manual-research-2d.png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17292-19F4-C84F-A735-2136C58713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0558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generated-slides/slide-09-three-contours-2d.png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screen from this project: screenshots/trajectory.png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2E1-9F15-560D-168A-774B7457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91DCC-CCDA-3BE5-B52C-CAFC05C0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3AAF9-9B1C-C593-6B8E-F8B9870B2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screen from this project: screenshots/trajectory.png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582C1-1FC1-D3A8-7C99-A3928647DD2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5564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602C-F5A3-B5FE-885B-84745805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5A24B-E22A-4A6E-96CC-6D59F6BE2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2BEAA-3137-7CD7-2E17-3DD33EF5C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screen from this project: screenshots/trajectory.png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C78D0-62D8-BDD5-FDB3-6084A984DC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8619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t>- Product screen from this project: screenshots/course-detail.png</a:t>
            </a:r>
          </a:p>
          <a:p>
            <a:r>
              <a:rPr dirty="0"/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586D-C373-5265-2BC2-CD1A1D0D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7AE75-4848-8611-C1F2-0FAF93D1B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C924D-D1C9-A56F-69D9-B118F82EB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screen from this project: screenshots/course-detail.png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F0B8B-BA1C-AC26-4EB6-17082DFAA4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935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Illustration generated for this project with OpenAI image generation: generated-slides/slide-19-repository-2d.png</a:t>
            </a:r>
          </a:p>
          <a:p>
            <a:r>
              <a:t>- Project repository: https://github.com/sqtwix/ai-education-mentor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159265-473B-4316-BEB6-8993776DEDFA}"/>
              </a:ext>
            </a:extLst>
          </p:cNvPr>
          <p:cNvSpPr>
            <a:spLocks noGrp="1"/>
          </p:cNvSpPr>
          <p:nvPr/>
        </p:nvSpPr>
        <p:spPr>
          <a:xfrm>
            <a:off x="235100" y="476672"/>
            <a:ext cx="7981950" cy="145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80000"/>
              </a:lnSpc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5000" b="1" dirty="0">
                <a:solidFill>
                  <a:schemeClr val="bg1"/>
                </a:solidFill>
                <a:latin typeface="Aptos Black" panose="020B0004020202020204" pitchFamily="34" charset="0"/>
              </a:rPr>
              <a:t>ИИ-АГЕНТ </a:t>
            </a:r>
            <a:r>
              <a:rPr lang="ru-RU" sz="5000" b="1" dirty="0">
                <a:solidFill>
                  <a:srgbClr val="F6365F"/>
                </a:solidFill>
                <a:latin typeface="Aptos Black" panose="020B0004020202020204" pitchFamily="34" charset="0"/>
              </a:rPr>
              <a:t>ИНДИВИДУАЛЬНОЙ</a:t>
            </a:r>
            <a:r>
              <a:rPr lang="ru-RU" sz="5000" b="1" dirty="0">
                <a:solidFill>
                  <a:schemeClr val="bg1"/>
                </a:solidFill>
                <a:latin typeface="Aptos Black" panose="020B0004020202020204" pitchFamily="34" charset="0"/>
              </a:rPr>
              <a:t> ТРАЕКТОРИИ ОБУЧЕНИЯ</a:t>
            </a:r>
            <a:endParaRPr lang="ru-RU" sz="5000" b="1" dirty="0">
              <a:solidFill>
                <a:schemeClr val="bg1"/>
              </a:solidFill>
              <a:latin typeface="Aptos Black" panose="020B00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05D98E-4CDD-4876-A8A0-EBF4B7A7EAA6}"/>
              </a:ext>
            </a:extLst>
          </p:cNvPr>
          <p:cNvSpPr>
            <a:spLocks noGrp="1"/>
          </p:cNvSpPr>
          <p:nvPr/>
        </p:nvSpPr>
        <p:spPr>
          <a:xfrm>
            <a:off x="235100" y="2708920"/>
            <a:ext cx="5644876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80000"/>
              </a:lnSpc>
              <a:buNone/>
              <a:defRPr sz="1425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000" b="0" dirty="0">
                <a:solidFill>
                  <a:srgbClr val="D4D4F0"/>
                </a:solidFill>
                <a:latin typeface="Arial Narrow" panose="020B0606020202030204" pitchFamily="34" charset="0"/>
                <a:ea typeface="Arial"/>
                <a:cs typeface="Arial"/>
              </a:rPr>
              <a:t>РЕШЕНИЕ КОМАНДЫ ИИМПУЛЬС</a:t>
            </a:r>
          </a:p>
        </p:txBody>
      </p:sp>
    </p:spTree>
    <p:extLst>
      <p:ext uri="{BB962C8B-B14F-4D97-AF65-F5344CB8AC3E}">
        <p14:creationId xmlns:p14="http://schemas.microsoft.com/office/powerpoint/2010/main" val="204951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326E34-F08D-EE84-F8A3-14016A7D035E}"/>
              </a:ext>
            </a:extLst>
          </p:cNvPr>
          <p:cNvGrpSpPr/>
          <p:nvPr/>
        </p:nvGrpSpPr>
        <p:grpSpPr>
          <a:xfrm flipH="1">
            <a:off x="-2256928" y="0"/>
            <a:ext cx="15337703" cy="6858000"/>
            <a:chOff x="-1143468" y="0"/>
            <a:chExt cx="15337703" cy="6858000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2002235" y="0"/>
              <a:ext cx="12192000" cy="6858000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A2280E3-76D3-5762-F99C-8B7E24B5E597}"/>
                </a:ext>
              </a:extLst>
            </p:cNvPr>
            <p:cNvSpPr/>
            <p:nvPr/>
          </p:nvSpPr>
          <p:spPr>
            <a:xfrm>
              <a:off x="-1143468" y="0"/>
              <a:ext cx="3639069" cy="6858000"/>
            </a:xfrm>
            <a:prstGeom prst="rect">
              <a:avLst/>
            </a:prstGeom>
            <a:solidFill>
              <a:srgbClr val="FBE9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73F36D-9A20-4297-9370-222FBBB5DE54}"/>
              </a:ext>
            </a:extLst>
          </p:cNvPr>
          <p:cNvSpPr>
            <a:spLocks noGrp="1"/>
          </p:cNvSpPr>
          <p:nvPr/>
        </p:nvSpPr>
        <p:spPr>
          <a:xfrm>
            <a:off x="5303912" y="476672"/>
            <a:ext cx="6408712" cy="1656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В БОЛЬШОМ КАТАЛОГЕ </a:t>
            </a:r>
          </a:p>
          <a:p>
            <a:pPr>
              <a:lnSpc>
                <a:spcPct val="8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4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ТРУДНО</a:t>
            </a: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 ВЫБРАТЬ</a:t>
            </a:r>
          </a:p>
          <a:p>
            <a:pPr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ПРОДОЛЖЕНИЕ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A93B73-0469-14D8-A1A1-5FA9007A1C40}"/>
              </a:ext>
            </a:extLst>
          </p:cNvPr>
          <p:cNvSpPr>
            <a:spLocks noGrp="1"/>
          </p:cNvSpPr>
          <p:nvPr/>
        </p:nvSpPr>
        <p:spPr>
          <a:xfrm>
            <a:off x="7464152" y="4077072"/>
            <a:ext cx="4525180" cy="1656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У КАЖДОГО</a:t>
            </a:r>
          </a:p>
          <a:p>
            <a:pPr>
              <a:lnSpc>
                <a:spcPct val="90000"/>
              </a:lnSpc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СОТРУДНИКА</a:t>
            </a:r>
          </a:p>
          <a:p>
            <a:pPr>
              <a:lnSpc>
                <a:spcPct val="90000"/>
              </a:lnSpc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4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СВОЙ СТАРТ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F21DB-80E8-178B-A765-8F51CC5C037F}"/>
              </a:ext>
            </a:extLst>
          </p:cNvPr>
          <p:cNvSpPr>
            <a:spLocks noGrp="1"/>
          </p:cNvSpPr>
          <p:nvPr/>
        </p:nvSpPr>
        <p:spPr>
          <a:xfrm>
            <a:off x="7248128" y="2232248"/>
            <a:ext cx="1512168" cy="1440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buNone/>
            </a:pPr>
            <a:r>
              <a:rPr lang="ru-RU" sz="9600" b="1" dirty="0">
                <a:solidFill>
                  <a:srgbClr val="171744"/>
                </a:solidFill>
              </a:rPr>
              <a:t>✛</a:t>
            </a:r>
            <a:endParaRPr lang="ru-RU" sz="79700" b="1" dirty="0">
              <a:solidFill>
                <a:srgbClr val="171744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B57880-A73E-B3A0-A184-13B3F6719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2924944"/>
            <a:ext cx="94813" cy="28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4F1D70E-7FFF-DE72-16DD-71F6C116889E}"/>
              </a:ext>
            </a:extLst>
          </p:cNvPr>
          <p:cNvGrpSpPr/>
          <p:nvPr/>
        </p:nvGrpSpPr>
        <p:grpSpPr>
          <a:xfrm>
            <a:off x="0" y="0"/>
            <a:ext cx="12192000" cy="7053211"/>
            <a:chOff x="6664" y="-4954"/>
            <a:chExt cx="12192000" cy="7053211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F5837AB-6DB0-3BCC-F0A9-2F18D9115F8C}"/>
                </a:ext>
              </a:extLst>
            </p:cNvPr>
            <p:cNvSpPr/>
            <p:nvPr/>
          </p:nvSpPr>
          <p:spPr>
            <a:xfrm>
              <a:off x="6664" y="-4954"/>
              <a:ext cx="12192000" cy="6858000"/>
            </a:xfrm>
            <a:prstGeom prst="rect">
              <a:avLst/>
            </a:prstGeom>
            <a:solidFill>
              <a:srgbClr val="FEEF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2612574" y="1479830"/>
              <a:ext cx="9583997" cy="5390998"/>
            </a:xfrm>
            <a:prstGeom prst="rect">
              <a:avLst/>
            </a:prstGeom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513544-7F3E-E031-67CE-7829FEB0AD0C}"/>
                </a:ext>
              </a:extLst>
            </p:cNvPr>
            <p:cNvSpPr/>
            <p:nvPr/>
          </p:nvSpPr>
          <p:spPr>
            <a:xfrm>
              <a:off x="2576218" y="1412473"/>
              <a:ext cx="3526445" cy="5201816"/>
            </a:xfrm>
            <a:prstGeom prst="rect">
              <a:avLst/>
            </a:prstGeom>
            <a:solidFill>
              <a:srgbClr val="FEEF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B3F72F7-CA9E-93F5-9BEC-B8DA668334F4}"/>
                </a:ext>
              </a:extLst>
            </p:cNvPr>
            <p:cNvSpPr/>
            <p:nvPr/>
          </p:nvSpPr>
          <p:spPr>
            <a:xfrm>
              <a:off x="3494028" y="50821"/>
              <a:ext cx="3006008" cy="1884784"/>
            </a:xfrm>
            <a:prstGeom prst="rect">
              <a:avLst/>
            </a:prstGeom>
            <a:solidFill>
              <a:srgbClr val="FEEF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C90B5072-D2F6-971A-8DDF-B04053A755E6}"/>
                </a:ext>
              </a:extLst>
            </p:cNvPr>
            <p:cNvSpPr/>
            <p:nvPr/>
          </p:nvSpPr>
          <p:spPr>
            <a:xfrm>
              <a:off x="5310576" y="6671412"/>
              <a:ext cx="3006008" cy="376845"/>
            </a:xfrm>
            <a:prstGeom prst="rect">
              <a:avLst/>
            </a:prstGeom>
            <a:solidFill>
              <a:srgbClr val="FEEF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BCE534E-1F7D-E13B-00EA-04DF2CBF13BA}"/>
                </a:ext>
              </a:extLst>
            </p:cNvPr>
            <p:cNvSpPr/>
            <p:nvPr/>
          </p:nvSpPr>
          <p:spPr>
            <a:xfrm>
              <a:off x="1782184" y="6463037"/>
              <a:ext cx="4620872" cy="425572"/>
            </a:xfrm>
            <a:prstGeom prst="rect">
              <a:avLst/>
            </a:prstGeom>
            <a:solidFill>
              <a:srgbClr val="FEEF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F0694A-989E-4565-A8C9-85F6352694B2}"/>
              </a:ext>
            </a:extLst>
          </p:cNvPr>
          <p:cNvSpPr>
            <a:spLocks noGrp="1"/>
          </p:cNvSpPr>
          <p:nvPr/>
        </p:nvSpPr>
        <p:spPr>
          <a:xfrm>
            <a:off x="264241" y="503740"/>
            <a:ext cx="8046568" cy="1179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9012"/>
          </a:bodyPr>
          <a:lstStyle/>
          <a:p>
            <a:pPr algn="l">
              <a:lnSpc>
                <a:spcPct val="8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40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МАРШРУТ</a:t>
            </a:r>
            <a:r>
              <a:rPr lang="ru-RU" sz="40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 ФОРМИРУЕТСЯ</a:t>
            </a:r>
          </a:p>
          <a:p>
            <a:pPr algn="l">
              <a:lnSpc>
                <a:spcPct val="8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40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ПО ШАГАМ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7A71E-E007-41CB-BAFD-E4E6EB479291}"/>
              </a:ext>
            </a:extLst>
          </p:cNvPr>
          <p:cNvSpPr>
            <a:spLocks noGrp="1"/>
          </p:cNvSpPr>
          <p:nvPr/>
        </p:nvSpPr>
        <p:spPr>
          <a:xfrm>
            <a:off x="264241" y="2605823"/>
            <a:ext cx="4754560" cy="128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90000"/>
              </a:lnSpc>
              <a:buNone/>
              <a:defRPr sz="1425" b="0">
                <a:solidFill>
                  <a:srgbClr val="4A4057"/>
                </a:solidFill>
                <a:latin typeface="Arial"/>
                <a:ea typeface="Arial"/>
                <a:cs typeface="Arial"/>
              </a:defRPr>
            </a:pPr>
            <a:r>
              <a:rPr lang="ru-RU" sz="3000" b="0" dirty="0">
                <a:solidFill>
                  <a:srgbClr val="171744"/>
                </a:solidFill>
                <a:latin typeface="Arial Narrow" panose="020B0606020202030204" pitchFamily="34" charset="0"/>
                <a:ea typeface="Arial"/>
                <a:cs typeface="Arial"/>
              </a:rPr>
              <a:t>ДАННЫЕ И ПРОЙДЕННОЕ ОБУЧЕНИЕ СКЛАДЫВАЮТСЯ В ПОСЛЕДОВАТЕЛЬНОСТЬ </a:t>
            </a:r>
            <a:r>
              <a:rPr lang="ru-RU" sz="3000" b="0" i="1" dirty="0">
                <a:solidFill>
                  <a:srgbClr val="FC5953"/>
                </a:solidFill>
                <a:latin typeface="Arial Narrow" panose="020B0606020202030204" pitchFamily="34" charset="0"/>
                <a:ea typeface="Arial"/>
                <a:cs typeface="Arial"/>
              </a:rPr>
              <a:t>ПОДХОДЯЩИХ</a:t>
            </a:r>
            <a:r>
              <a:rPr lang="ru-RU" sz="3000" b="0" dirty="0">
                <a:solidFill>
                  <a:srgbClr val="171744"/>
                </a:solidFill>
                <a:latin typeface="Arial Narrow" panose="020B0606020202030204" pitchFamily="34" charset="0"/>
                <a:ea typeface="Arial"/>
                <a:cs typeface="Arial"/>
              </a:rPr>
              <a:t>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45707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E7C5A8-E80D-3249-D3A3-4F4C02E72E2F}"/>
              </a:ext>
            </a:extLst>
          </p:cNvPr>
          <p:cNvSpPr/>
          <p:nvPr/>
        </p:nvSpPr>
        <p:spPr>
          <a:xfrm>
            <a:off x="0" y="0"/>
            <a:ext cx="12288688" cy="6858000"/>
          </a:xfrm>
          <a:prstGeom prst="rect">
            <a:avLst/>
          </a:prstGeom>
          <a:solidFill>
            <a:srgbClr val="1717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ACF322-1CF9-45B9-9D08-D5EECAAB3813}"/>
              </a:ext>
            </a:extLst>
          </p:cNvPr>
          <p:cNvSpPr>
            <a:spLocks noGrp="1"/>
          </p:cNvSpPr>
          <p:nvPr/>
        </p:nvSpPr>
        <p:spPr>
          <a:xfrm>
            <a:off x="4649157" y="487405"/>
            <a:ext cx="7349955" cy="574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899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000" b="1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</a:rPr>
              <a:t>СРАВНЕНИЕ И ВЫБОР МОДЕЛЕЙ</a:t>
            </a:r>
            <a:endParaRPr sz="3000" b="1" dirty="0">
              <a:solidFill>
                <a:schemeClr val="bg1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C10583C-8566-1FD0-53AD-9220F2E7C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738748"/>
              </p:ext>
            </p:extLst>
          </p:nvPr>
        </p:nvGraphicFramePr>
        <p:xfrm>
          <a:off x="479376" y="1408627"/>
          <a:ext cx="10657182" cy="3826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8502">
                  <a:extLst>
                    <a:ext uri="{9D8B030D-6E8A-4147-A177-3AD203B41FA5}">
                      <a16:colId xmlns:a16="http://schemas.microsoft.com/office/drawing/2014/main" val="2074555876"/>
                    </a:ext>
                  </a:extLst>
                </a:gridCol>
                <a:gridCol w="2769970">
                  <a:extLst>
                    <a:ext uri="{9D8B030D-6E8A-4147-A177-3AD203B41FA5}">
                      <a16:colId xmlns:a16="http://schemas.microsoft.com/office/drawing/2014/main" val="1814546566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1765911963"/>
                    </a:ext>
                  </a:extLst>
                </a:gridCol>
                <a:gridCol w="3384374">
                  <a:extLst>
                    <a:ext uri="{9D8B030D-6E8A-4147-A177-3AD203B41FA5}">
                      <a16:colId xmlns:a16="http://schemas.microsoft.com/office/drawing/2014/main" val="2714794855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u="sng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SBER GIGACHAT PRO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ALICE AI LLM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COTYPE PRO 2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327737"/>
                  </a:ext>
                </a:extLst>
              </a:tr>
              <a:tr h="1484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i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✛</a:t>
                      </a:r>
                      <a:endParaRPr lang="ru-RU" sz="23900" b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128K контекст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Функции, JSON </a:t>
                      </a:r>
                      <a:r>
                        <a:rPr lang="ru-RU" sz="1800" b="0" dirty="0" err="1">
                          <a:latin typeface="Arial Narrow" panose="020B0606020202030204" pitchFamily="34" charset="0"/>
                        </a:rPr>
                        <a:t>Schema</a:t>
                      </a: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, пакетная обработка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500 ₽ / 1 млн токенов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128K контекст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OpenAI-совместимый API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500 ₽ вход / 1 200 ₽ выход за 1 млн токенов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Явный URI версии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OpenAI-совместимый API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800 ₽ вход / 800 ₽ выход за 1 млн токенов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881775"/>
                  </a:ext>
                </a:extLst>
              </a:tr>
              <a:tr h="1512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dirty="0">
                          <a:solidFill>
                            <a:srgbClr val="F6365F"/>
                          </a:solidFill>
                        </a:rPr>
                        <a:t>—</a:t>
                      </a:r>
                      <a:endParaRPr lang="ru-RU" sz="6000" b="1" dirty="0">
                        <a:solidFill>
                          <a:srgbClr val="F6365F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>
                          <a:latin typeface="Arial Narrow" panose="020B0606020202030204" pitchFamily="34" charset="0"/>
                        </a:rPr>
                        <a:t>Облачный API</a:t>
                      </a:r>
                      <a:br>
                        <a:rPr lang="ru-RU" sz="1800" b="0">
                          <a:latin typeface="Arial Narrow" panose="020B0606020202030204" pitchFamily="34" charset="0"/>
                        </a:rPr>
                      </a:br>
                      <a:r>
                        <a:rPr lang="ru-RU" sz="1800" b="0">
                          <a:latin typeface="Arial Narrow" panose="020B0606020202030204" pitchFamily="34" charset="0"/>
                        </a:rPr>
                        <a:t>Бесплатный режим — только для личного некоммерческого использования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Общий пул ресурсов: возможны задержки под нагрузкой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Выходной токен в 2,4× дороже </a:t>
                      </a:r>
                      <a:r>
                        <a:rPr lang="ru-RU" sz="1800" b="0" dirty="0" err="1">
                          <a:latin typeface="Arial Narrow" panose="020B0606020202030204" pitchFamily="34" charset="0"/>
                        </a:rPr>
                        <a:t>GigaChat</a:t>
                      </a: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 2 Pro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Публичного тарифа за токены нет: цена — по коммерческому предложению</a:t>
                      </a:r>
                      <a:br>
                        <a:rPr lang="ru-RU" sz="18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1800" b="0" dirty="0">
                          <a:latin typeface="Arial Narrow" panose="020B0606020202030204" pitchFamily="34" charset="0"/>
                        </a:rPr>
                        <a:t>Самостоятельный запуск: от 1× A100 80 GB, оценка MWS — около 3 млн ₽ оборудования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8151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EFE296-8A64-5084-A74F-21A5154D9A00}"/>
              </a:ext>
            </a:extLst>
          </p:cNvPr>
          <p:cNvSpPr>
            <a:spLocks noGrp="1"/>
          </p:cNvSpPr>
          <p:nvPr/>
        </p:nvSpPr>
        <p:spPr>
          <a:xfrm>
            <a:off x="263352" y="476672"/>
            <a:ext cx="3240360" cy="9801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8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Российские модели</a:t>
            </a:r>
            <a:endParaRPr sz="3500" b="1" dirty="0">
              <a:solidFill>
                <a:srgbClr val="F6365F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46783A9-921C-5AE6-1825-2FD107BC6690}"/>
              </a:ext>
            </a:extLst>
          </p:cNvPr>
          <p:cNvGrpSpPr/>
          <p:nvPr/>
        </p:nvGrpSpPr>
        <p:grpSpPr>
          <a:xfrm>
            <a:off x="3320713" y="5373897"/>
            <a:ext cx="6608248" cy="891741"/>
            <a:chOff x="3969241" y="5766855"/>
            <a:chExt cx="6608248" cy="89174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C2725716-B366-5711-20AA-7DBAE22D8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6099" y="5780448"/>
              <a:ext cx="864095" cy="864095"/>
            </a:xfrm>
            <a:prstGeom prst="rect">
              <a:avLst/>
            </a:prstGeom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D9DD6A33-F816-9CB6-B045-E7F76854D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3394" y="5794501"/>
              <a:ext cx="864095" cy="864095"/>
            </a:xfrm>
            <a:prstGeom prst="rect">
              <a:avLst/>
            </a:prstGeom>
          </p:spPr>
        </p:pic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1811F9BC-2250-2AE8-F9B8-116D921B92F2}"/>
                </a:ext>
              </a:extLst>
            </p:cNvPr>
            <p:cNvGrpSpPr/>
            <p:nvPr/>
          </p:nvGrpSpPr>
          <p:grpSpPr>
            <a:xfrm>
              <a:off x="3969241" y="5766855"/>
              <a:ext cx="864096" cy="864096"/>
              <a:chOff x="3969241" y="5766855"/>
              <a:chExt cx="864096" cy="864096"/>
            </a:xfrm>
          </p:grpSpPr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4CA90D29-F9F7-1F71-2941-5141875DC570}"/>
                  </a:ext>
                </a:extLst>
              </p:cNvPr>
              <p:cNvSpPr/>
              <p:nvPr/>
            </p:nvSpPr>
            <p:spPr>
              <a:xfrm>
                <a:off x="3969241" y="5766855"/>
                <a:ext cx="864096" cy="86409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0" name="Picture 1">
                <a:extLst>
                  <a:ext uri="{FF2B5EF4-FFF2-40B4-BE49-F238E27FC236}">
                    <a16:creationId xmlns:a16="http://schemas.microsoft.com/office/drawing/2014/main" id="{865EF666-D6FB-CEF1-7C40-4C7760123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8224" y="5805838"/>
                <a:ext cx="786130" cy="7861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2585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73D9A-1EBE-6627-88E1-26FB77D2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4E8B32FB-5377-A3AA-54BD-F8C9FC8D5123}"/>
              </a:ext>
            </a:extLst>
          </p:cNvPr>
          <p:cNvGrpSpPr/>
          <p:nvPr/>
        </p:nvGrpSpPr>
        <p:grpSpPr>
          <a:xfrm>
            <a:off x="0" y="0"/>
            <a:ext cx="12288688" cy="6858000"/>
            <a:chOff x="0" y="0"/>
            <a:chExt cx="12288688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8DB445D-E729-4658-6C8B-857BF1A02EDB}"/>
                </a:ext>
              </a:extLst>
            </p:cNvPr>
            <p:cNvSpPr/>
            <p:nvPr/>
          </p:nvSpPr>
          <p:spPr>
            <a:xfrm>
              <a:off x="0" y="0"/>
              <a:ext cx="12288688" cy="6858000"/>
            </a:xfrm>
            <a:prstGeom prst="rect">
              <a:avLst/>
            </a:prstGeom>
            <a:solidFill>
              <a:srgbClr val="1717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40C83AA-89B7-911C-96BC-0D66B08DEB88}"/>
                </a:ext>
              </a:extLst>
            </p:cNvPr>
            <p:cNvSpPr/>
            <p:nvPr/>
          </p:nvSpPr>
          <p:spPr>
            <a:xfrm>
              <a:off x="6541976" y="5424232"/>
              <a:ext cx="936104" cy="8971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A9ED0FAD-8834-99EC-6080-E9A9C1803835}"/>
                </a:ext>
              </a:extLst>
            </p:cNvPr>
            <p:cNvGrpSpPr/>
            <p:nvPr/>
          </p:nvGrpSpPr>
          <p:grpSpPr>
            <a:xfrm>
              <a:off x="3359696" y="5479728"/>
              <a:ext cx="6796609" cy="786130"/>
              <a:chOff x="3935760" y="5850214"/>
              <a:chExt cx="6516318" cy="786130"/>
            </a:xfrm>
          </p:grpSpPr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A83A99BF-D05B-2B3E-1BB5-94403C4F5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5760" y="5850214"/>
                <a:ext cx="786130" cy="786130"/>
              </a:xfrm>
              <a:prstGeom prst="rect">
                <a:avLst/>
              </a:prstGeom>
            </p:spPr>
          </p:pic>
          <p:pic>
            <p:nvPicPr>
              <p:cNvPr id="9" name="Picture 5">
                <a:extLst>
                  <a:ext uri="{FF2B5EF4-FFF2-40B4-BE49-F238E27FC236}">
                    <a16:creationId xmlns:a16="http://schemas.microsoft.com/office/drawing/2014/main" id="{9DC9E3F9-14EE-6DB2-2F35-15F7B6706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2488" y="5850214"/>
                <a:ext cx="786130" cy="7861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Picture 6">
                <a:extLst>
                  <a:ext uri="{FF2B5EF4-FFF2-40B4-BE49-F238E27FC236}">
                    <a16:creationId xmlns:a16="http://schemas.microsoft.com/office/drawing/2014/main" id="{3F4D30CF-1F5F-62EC-C5C1-9316C16C25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65948" y="5850214"/>
                <a:ext cx="786130" cy="786130"/>
              </a:xfrm>
              <a:prstGeom prst="rect">
                <a:avLst/>
              </a:prstGeom>
            </p:spPr>
          </p:pic>
        </p:grp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813902-B58D-DC8F-C9EA-DCE5699E5CE7}"/>
              </a:ext>
            </a:extLst>
          </p:cNvPr>
          <p:cNvSpPr>
            <a:spLocks noGrp="1"/>
          </p:cNvSpPr>
          <p:nvPr/>
        </p:nvSpPr>
        <p:spPr>
          <a:xfrm>
            <a:off x="4649157" y="487405"/>
            <a:ext cx="7349955" cy="574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899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000" b="1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</a:rPr>
              <a:t>СРАВНЕНИЕ И ВЫБОР МОДЕЛЕЙ</a:t>
            </a:r>
            <a:endParaRPr sz="3000" b="1" dirty="0">
              <a:solidFill>
                <a:schemeClr val="bg1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671BBDAE-8873-B128-0196-68BDEEE70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800554"/>
              </p:ext>
            </p:extLst>
          </p:nvPr>
        </p:nvGraphicFramePr>
        <p:xfrm>
          <a:off x="479376" y="1408627"/>
          <a:ext cx="10657182" cy="373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8502">
                  <a:extLst>
                    <a:ext uri="{9D8B030D-6E8A-4147-A177-3AD203B41FA5}">
                      <a16:colId xmlns:a16="http://schemas.microsoft.com/office/drawing/2014/main" val="2074555876"/>
                    </a:ext>
                  </a:extLst>
                </a:gridCol>
                <a:gridCol w="3530262">
                  <a:extLst>
                    <a:ext uri="{9D8B030D-6E8A-4147-A177-3AD203B41FA5}">
                      <a16:colId xmlns:a16="http://schemas.microsoft.com/office/drawing/2014/main" val="1814546566"/>
                    </a:ext>
                  </a:extLst>
                </a:gridCol>
                <a:gridCol w="2824209">
                  <a:extLst>
                    <a:ext uri="{9D8B030D-6E8A-4147-A177-3AD203B41FA5}">
                      <a16:colId xmlns:a16="http://schemas.microsoft.com/office/drawing/2014/main" val="1765911963"/>
                    </a:ext>
                  </a:extLst>
                </a:gridCol>
                <a:gridCol w="2824209">
                  <a:extLst>
                    <a:ext uri="{9D8B030D-6E8A-4147-A177-3AD203B41FA5}">
                      <a16:colId xmlns:a16="http://schemas.microsoft.com/office/drawing/2014/main" val="2714794855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DEEPSEEK V4 FLASH</a:t>
                      </a:r>
                      <a:endParaRPr lang="ru-RU"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GPT-5 MINI</a:t>
                      </a:r>
                      <a:endParaRPr lang="ru-RU"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GEMINI 3.7 FLASH</a:t>
                      </a:r>
                      <a:endParaRPr lang="ru-RU"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327737"/>
                  </a:ext>
                </a:extLst>
              </a:tr>
              <a:tr h="1484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i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✛</a:t>
                      </a:r>
                      <a:endParaRPr lang="ru-RU" sz="23900" b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1M контекст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JSON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Output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и Tool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Calls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$0,14 вход / $0,28 выход за 1 млн токенов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OpenAI-совместимый API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400K контекст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Structured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Outputs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и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Function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Calling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Фиксируемый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snapshot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модели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1M контекст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Structured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Outputs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и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Function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Calling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Поиск и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code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execution</a:t>
                      </a:r>
                      <a:endParaRPr lang="ru-RU" sz="20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881775"/>
                  </a:ext>
                </a:extLst>
              </a:tr>
              <a:tr h="1512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dirty="0">
                          <a:solidFill>
                            <a:srgbClr val="F6365F"/>
                          </a:solidFill>
                        </a:rPr>
                        <a:t>—</a:t>
                      </a:r>
                      <a:endParaRPr lang="ru-RU" sz="6000" b="1" dirty="0">
                        <a:solidFill>
                          <a:srgbClr val="F6365F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Зарубежное облако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Нужно фиксировать режим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thinking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/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non-thinking</a:t>
                      </a:r>
                      <a:endParaRPr lang="ru-RU" sz="20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$0,25 вход / $2,00 выход за 1 млн токенов</a:t>
                      </a:r>
                      <a:br>
                        <a:rPr lang="ru-RU" sz="2000" dirty="0">
                          <a:latin typeface="Arial Narrow" panose="020B0606020202030204" pitchFamily="34" charset="0"/>
                        </a:rPr>
                      </a:br>
                      <a:r>
                        <a:rPr lang="ru-RU" sz="2000" dirty="0">
                          <a:latin typeface="Arial Narrow" panose="020B0606020202030204" pitchFamily="34" charset="0"/>
                        </a:rPr>
                        <a:t>Выходной токен в 7,1 раза дороже </a:t>
                      </a:r>
                      <a:r>
                        <a:rPr lang="ru-RU" sz="2000" dirty="0" err="1">
                          <a:latin typeface="Arial Narrow" panose="020B0606020202030204" pitchFamily="34" charset="0"/>
                        </a:rPr>
                        <a:t>DeepSeek</a:t>
                      </a:r>
                      <a:r>
                        <a:rPr lang="ru-RU" sz="2000" dirty="0">
                          <a:latin typeface="Arial Narrow" panose="020B0606020202030204" pitchFamily="34" charset="0"/>
                        </a:rPr>
                        <a:t> V4 Flash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>
                          <a:latin typeface="Arial Narrow" panose="020B0606020202030204" pitchFamily="34" charset="0"/>
                        </a:rPr>
                        <a:t>С 01.01.2027 заявлены $1,50 / $7,50</a:t>
                      </a:r>
                      <a:br>
                        <a:rPr lang="ru-RU" sz="2000" b="0">
                          <a:latin typeface="Arial Narrow" panose="020B0606020202030204" pitchFamily="34" charset="0"/>
                        </a:rPr>
                      </a:br>
                      <a:r>
                        <a:rPr lang="ru-RU" sz="2000" b="0">
                          <a:latin typeface="Arial Narrow" panose="020B0606020202030204" pitchFamily="34" charset="0"/>
                        </a:rPr>
                        <a:t>Зарубежное облако</a:t>
                      </a:r>
                      <a:endParaRPr lang="ru-RU" sz="2000" b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81513"/>
                  </a:ext>
                </a:extLst>
              </a:tr>
            </a:tbl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E6A135-6A49-2B3A-AA91-670C741AB284}"/>
              </a:ext>
            </a:extLst>
          </p:cNvPr>
          <p:cNvSpPr>
            <a:spLocks noGrp="1"/>
          </p:cNvSpPr>
          <p:nvPr/>
        </p:nvSpPr>
        <p:spPr>
          <a:xfrm>
            <a:off x="263352" y="476672"/>
            <a:ext cx="3456384" cy="9801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8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Зарубежные модели</a:t>
            </a:r>
            <a:endParaRPr sz="3500" b="1" dirty="0">
              <a:solidFill>
                <a:srgbClr val="F6365F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80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BD46-EE9C-C257-B83C-05803A29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0F5059-C66C-8681-7385-F11BEA95191C}"/>
              </a:ext>
            </a:extLst>
          </p:cNvPr>
          <p:cNvSpPr/>
          <p:nvPr/>
        </p:nvSpPr>
        <p:spPr>
          <a:xfrm>
            <a:off x="0" y="0"/>
            <a:ext cx="12288688" cy="6858000"/>
          </a:xfrm>
          <a:prstGeom prst="rect">
            <a:avLst/>
          </a:prstGeom>
          <a:solidFill>
            <a:srgbClr val="1717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52D9153-10C9-CA00-AD90-EB828392A25E}"/>
              </a:ext>
            </a:extLst>
          </p:cNvPr>
          <p:cNvGrpSpPr/>
          <p:nvPr/>
        </p:nvGrpSpPr>
        <p:grpSpPr>
          <a:xfrm>
            <a:off x="4151784" y="5397926"/>
            <a:ext cx="4985120" cy="786130"/>
            <a:chOff x="3758719" y="5919066"/>
            <a:chExt cx="4985120" cy="78613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15BEED13-3FC4-3738-3C03-38AC8A70C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8719" y="5919066"/>
              <a:ext cx="786130" cy="786130"/>
            </a:xfrm>
            <a:prstGeom prst="rect">
              <a:avLst/>
            </a:prstGeom>
          </p:spPr>
        </p:pic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CBD8DFA6-ABB6-C956-97E6-7C9FEC768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7709" y="5919066"/>
              <a:ext cx="786130" cy="786130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EC68BF-464F-A8BA-E3DE-0DC551935E0C}"/>
              </a:ext>
            </a:extLst>
          </p:cNvPr>
          <p:cNvSpPr>
            <a:spLocks noGrp="1"/>
          </p:cNvSpPr>
          <p:nvPr/>
        </p:nvSpPr>
        <p:spPr>
          <a:xfrm>
            <a:off x="4649157" y="487405"/>
            <a:ext cx="7349955" cy="574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899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000" b="1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</a:rPr>
              <a:t>СРАВНЕНИЕ И ВЫБОР МОДЕЛЕЙ</a:t>
            </a:r>
            <a:endParaRPr sz="3000" b="1" dirty="0">
              <a:solidFill>
                <a:schemeClr val="bg1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6E0F3BC-6F49-1A43-6E3E-C7FFC4C9B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63876"/>
              </p:ext>
            </p:extLst>
          </p:nvPr>
        </p:nvGraphicFramePr>
        <p:xfrm>
          <a:off x="761450" y="1376818"/>
          <a:ext cx="9655030" cy="37083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2196">
                  <a:extLst>
                    <a:ext uri="{9D8B030D-6E8A-4147-A177-3AD203B41FA5}">
                      <a16:colId xmlns:a16="http://schemas.microsoft.com/office/drawing/2014/main" val="2074555876"/>
                    </a:ext>
                  </a:extLst>
                </a:gridCol>
                <a:gridCol w="4429687">
                  <a:extLst>
                    <a:ext uri="{9D8B030D-6E8A-4147-A177-3AD203B41FA5}">
                      <a16:colId xmlns:a16="http://schemas.microsoft.com/office/drawing/2014/main" val="1814546566"/>
                    </a:ext>
                  </a:extLst>
                </a:gridCol>
                <a:gridCol w="3423147">
                  <a:extLst>
                    <a:ext uri="{9D8B030D-6E8A-4147-A177-3AD203B41FA5}">
                      <a16:colId xmlns:a16="http://schemas.microsoft.com/office/drawing/2014/main" val="1765911963"/>
                    </a:ext>
                  </a:extLst>
                </a:gridCol>
              </a:tblGrid>
              <a:tr h="6229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Qwen 2.5 0.5B Instruct Q8_0</a:t>
                      </a:r>
                      <a:endParaRPr lang="ru-RU"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LLAMA 3.1 8B INSTRUCT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327737"/>
                  </a:ext>
                </a:extLst>
              </a:tr>
              <a:tr h="152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i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✛</a:t>
                      </a:r>
                      <a:endParaRPr lang="ru-RU" sz="23900" b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0,49 млрд параметров; Apache 2.0</a:t>
                      </a:r>
                      <a:br>
                        <a:rPr lang="ru-RU" sz="22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Русский язык; GGUF Q8_0 — 676 МБ</a:t>
                      </a:r>
                      <a:br>
                        <a:rPr lang="ru-RU" sz="22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Локальный OpenAI-совместимый API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8 млрд параметров</a:t>
                      </a:r>
                      <a:br>
                        <a:rPr lang="ru-RU" sz="22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Контекст 128K</a:t>
                      </a:r>
                      <a:br>
                        <a:rPr lang="ru-RU" sz="22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Поддерживает </a:t>
                      </a:r>
                      <a:r>
                        <a:rPr lang="ru-RU" sz="2200" b="0" dirty="0" err="1">
                          <a:latin typeface="Arial Narrow" panose="020B0606020202030204" pitchFamily="34" charset="0"/>
                        </a:rPr>
                        <a:t>tool</a:t>
                      </a: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ru-RU" sz="2200" b="0" dirty="0" err="1">
                          <a:latin typeface="Arial Narrow" panose="020B0606020202030204" pitchFamily="34" charset="0"/>
                        </a:rPr>
                        <a:t>use</a:t>
                      </a:r>
                      <a:endParaRPr lang="ru-RU" sz="2200" b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881775"/>
                  </a:ext>
                </a:extLst>
              </a:tr>
              <a:tr h="1557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6000" b="1" dirty="0">
                          <a:solidFill>
                            <a:srgbClr val="F6365F"/>
                          </a:solidFill>
                        </a:rPr>
                        <a:t>—</a:t>
                      </a:r>
                      <a:endParaRPr lang="ru-RU" sz="6000" b="1" dirty="0">
                        <a:solidFill>
                          <a:srgbClr val="F6365F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Контекст модели — 32K</a:t>
                      </a:r>
                    </a:p>
                    <a:p>
                      <a:pPr>
                        <a:buNone/>
                      </a:pPr>
                      <a:r>
                        <a:rPr lang="ru-RU" sz="2200" b="0">
                          <a:latin typeface="Arial Narrow" panose="020B0606020202030204" pitchFamily="34" charset="0"/>
                        </a:rPr>
                        <a:t>Контекст </a:t>
                      </a: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сервиса </a:t>
                      </a:r>
                      <a:r>
                        <a:rPr lang="ru-RU" sz="2200" b="0">
                          <a:latin typeface="Arial Narrow" panose="020B0606020202030204" pitchFamily="34" charset="0"/>
                        </a:rPr>
                        <a:t>— 8K</a:t>
                      </a:r>
                    </a:p>
                    <a:p>
                      <a:pPr>
                        <a:buNone/>
                      </a:pPr>
                      <a:r>
                        <a:rPr lang="ru-RU" sz="2200" b="0">
                          <a:latin typeface="Arial Narrow" panose="020B0606020202030204" pitchFamily="34" charset="0"/>
                        </a:rPr>
                        <a:t>Нужен </a:t>
                      </a: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локальный </a:t>
                      </a:r>
                      <a:r>
                        <a:rPr lang="ru-RU" sz="2200" b="0" dirty="0" err="1">
                          <a:latin typeface="Arial Narrow" panose="020B0606020202030204" pitchFamily="34" charset="0"/>
                        </a:rPr>
                        <a:t>runtime</a:t>
                      </a:r>
                      <a:endParaRPr lang="ru-RU" sz="2200" b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Русский не входит в список заявленных языков</a:t>
                      </a:r>
                      <a:br>
                        <a:rPr lang="ru-RU" sz="2200" b="0" dirty="0">
                          <a:latin typeface="Arial Narrow" panose="020B0606020202030204" pitchFamily="34" charset="0"/>
                        </a:rPr>
                      </a:b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Собственная лицензия </a:t>
                      </a:r>
                      <a:r>
                        <a:rPr lang="ru-RU" sz="2200" b="0" dirty="0" err="1">
                          <a:latin typeface="Arial Narrow" panose="020B0606020202030204" pitchFamily="34" charset="0"/>
                        </a:rPr>
                        <a:t>Meta</a:t>
                      </a:r>
                      <a:r>
                        <a:rPr lang="ru-RU" sz="2200" b="0" dirty="0">
                          <a:latin typeface="Arial Narrow" panose="020B0606020202030204" pitchFamily="34" charset="0"/>
                        </a:rPr>
                        <a:t>, доступ к весам по 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81513"/>
                  </a:ext>
                </a:extLst>
              </a:tr>
            </a:tbl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6CA67D8-039D-8DFB-33FB-BAAD4A5CBB78}"/>
              </a:ext>
            </a:extLst>
          </p:cNvPr>
          <p:cNvSpPr>
            <a:spLocks noGrp="1"/>
          </p:cNvSpPr>
          <p:nvPr/>
        </p:nvSpPr>
        <p:spPr>
          <a:xfrm>
            <a:off x="263352" y="476672"/>
            <a:ext cx="3456384" cy="9801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8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Локальные модели</a:t>
            </a:r>
            <a:endParaRPr sz="3500" b="1" dirty="0">
              <a:solidFill>
                <a:srgbClr val="F6365F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960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29BB3BC-6423-D7AA-2463-C7F4902C5016}"/>
              </a:ext>
            </a:extLst>
          </p:cNvPr>
          <p:cNvSpPr/>
          <p:nvPr/>
        </p:nvSpPr>
        <p:spPr>
          <a:xfrm>
            <a:off x="0" y="0"/>
            <a:ext cx="12288688" cy="6858000"/>
          </a:xfrm>
          <a:prstGeom prst="rect">
            <a:avLst/>
          </a:prstGeom>
          <a:solidFill>
            <a:srgbClr val="1717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A8FC93-256E-40E9-8528-3266953BAD85}"/>
              </a:ext>
            </a:extLst>
          </p:cNvPr>
          <p:cNvSpPr>
            <a:spLocks noGrp="1"/>
          </p:cNvSpPr>
          <p:nvPr/>
        </p:nvSpPr>
        <p:spPr>
          <a:xfrm>
            <a:off x="271289" y="476250"/>
            <a:ext cx="7763222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4000" b="1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</a:rPr>
              <a:t>ТРИ </a:t>
            </a:r>
            <a:r>
              <a:rPr lang="ru-RU" sz="40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КЛЮЧЕВЫЕ</a:t>
            </a:r>
            <a:r>
              <a:rPr lang="ru-RU" sz="4000" b="1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</a:rPr>
              <a:t> МОДЕЛИ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7001A-0C77-558A-9E35-D5A9F8933F79}"/>
              </a:ext>
            </a:extLst>
          </p:cNvPr>
          <p:cNvSpPr txBox="1"/>
          <p:nvPr/>
        </p:nvSpPr>
        <p:spPr>
          <a:xfrm>
            <a:off x="1271464" y="3971641"/>
            <a:ext cx="4349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3000" b="1" dirty="0">
                <a:solidFill>
                  <a:schemeClr val="bg1"/>
                </a:solidFill>
                <a:latin typeface="Arial Narrow" panose="020B0606020202030204" pitchFamily="34" charset="0"/>
              </a:rPr>
              <a:t>SBER GIGACHAT PRO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69BC2-9DD7-665F-3D62-AD31743975A7}"/>
              </a:ext>
            </a:extLst>
          </p:cNvPr>
          <p:cNvSpPr txBox="1"/>
          <p:nvPr/>
        </p:nvSpPr>
        <p:spPr>
          <a:xfrm>
            <a:off x="4431058" y="1900452"/>
            <a:ext cx="37751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DEEPSEEK V4 FLASH</a:t>
            </a:r>
            <a:endParaRPr lang="ru-RU" sz="3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1B399-6D70-F0C7-DE70-92D70DBA0CC0}"/>
              </a:ext>
            </a:extLst>
          </p:cNvPr>
          <p:cNvSpPr txBox="1"/>
          <p:nvPr/>
        </p:nvSpPr>
        <p:spPr>
          <a:xfrm>
            <a:off x="6901325" y="5842600"/>
            <a:ext cx="39666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QWEN 2.</a:t>
            </a:r>
            <a:r>
              <a:rPr lang="ru-RU" sz="30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5 </a:t>
            </a:r>
            <a:r>
              <a:rPr lang="en-US" sz="30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LOCAL</a:t>
            </a:r>
            <a:endParaRPr lang="ru-RU" sz="3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F3AD686-6A67-D9B0-51A0-233F6D4C0B85}"/>
              </a:ext>
            </a:extLst>
          </p:cNvPr>
          <p:cNvSpPr/>
          <p:nvPr/>
        </p:nvSpPr>
        <p:spPr>
          <a:xfrm>
            <a:off x="2637471" y="4551092"/>
            <a:ext cx="1503841" cy="1503841"/>
          </a:xfrm>
          <a:prstGeom prst="ellipse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8E8E6BA4-EFD4-D05B-6F33-697635739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315" y="4618936"/>
            <a:ext cx="1368152" cy="1368152"/>
          </a:xfrm>
          <a:prstGeom prst="rect">
            <a:avLst/>
          </a:prstGeom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8D89E1EE-6CB1-C8B6-8813-7A02BA60B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36" y="2289266"/>
            <a:ext cx="1728192" cy="1656922"/>
          </a:xfrm>
          <a:prstGeom prst="rect">
            <a:avLst/>
          </a:prstGeom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645C1B05-8192-687F-A146-9F6160130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4" y="4084776"/>
            <a:ext cx="180020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1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1606C7-F3AB-493A-BA57-883C66819006}"/>
              </a:ext>
            </a:extLst>
          </p:cNvPr>
          <p:cNvSpPr>
            <a:spLocks noGrp="1"/>
          </p:cNvSpPr>
          <p:nvPr/>
        </p:nvSpPr>
        <p:spPr>
          <a:xfrm>
            <a:off x="263352" y="514350"/>
            <a:ext cx="68313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815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ПОЛЬЗОВАТЕЛЬСКИЙ ПУТЬ</a:t>
            </a:r>
            <a:endParaRPr sz="3500" b="1" dirty="0">
              <a:solidFill>
                <a:srgbClr val="171744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DA219E-65FA-A9CC-3E1D-D520141C5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1152917"/>
            <a:ext cx="9664700" cy="5338597"/>
          </a:xfrm>
          <a:prstGeom prst="rect">
            <a:avLst/>
          </a:prstGeom>
          <a:ln w="57150">
            <a:solidFill>
              <a:srgbClr val="F1B25D"/>
            </a:solidFill>
          </a:ln>
        </p:spPr>
      </p:pic>
    </p:spTree>
    <p:extLst>
      <p:ext uri="{BB962C8B-B14F-4D97-AF65-F5344CB8AC3E}">
        <p14:creationId xmlns:p14="http://schemas.microsoft.com/office/powerpoint/2010/main" val="210056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CAD55-3B6B-A258-C365-DA97CBCC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A20FB3-D9AD-3A51-D0DA-F2F1FCE22DDB}"/>
              </a:ext>
            </a:extLst>
          </p:cNvPr>
          <p:cNvSpPr>
            <a:spLocks noGrp="1"/>
          </p:cNvSpPr>
          <p:nvPr/>
        </p:nvSpPr>
        <p:spPr>
          <a:xfrm>
            <a:off x="263352" y="514350"/>
            <a:ext cx="68313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815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ПОЛЬЗОВАТЕЛЬСКИЙ ПУТЬ</a:t>
            </a:r>
            <a:endParaRPr sz="3500" b="1" dirty="0">
              <a:solidFill>
                <a:srgbClr val="171744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BC45EB-1801-DA97-49F7-558CA087B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50" y="1191331"/>
            <a:ext cx="9677400" cy="5171381"/>
          </a:xfrm>
          <a:prstGeom prst="rect">
            <a:avLst/>
          </a:prstGeom>
          <a:ln w="57150">
            <a:solidFill>
              <a:srgbClr val="F1B25D"/>
            </a:solidFill>
          </a:ln>
        </p:spPr>
      </p:pic>
    </p:spTree>
    <p:extLst>
      <p:ext uri="{BB962C8B-B14F-4D97-AF65-F5344CB8AC3E}">
        <p14:creationId xmlns:p14="http://schemas.microsoft.com/office/powerpoint/2010/main" val="2001825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F31C4-6F19-52FD-FD75-08BE0953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1213B7-E201-8E0F-D6B8-D91E16318219}"/>
              </a:ext>
            </a:extLst>
          </p:cNvPr>
          <p:cNvSpPr>
            <a:spLocks noGrp="1"/>
          </p:cNvSpPr>
          <p:nvPr/>
        </p:nvSpPr>
        <p:spPr>
          <a:xfrm>
            <a:off x="263352" y="514350"/>
            <a:ext cx="68313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815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ПОЛЬЗОВАТЕЛЬСКИЙ ПУТЬ</a:t>
            </a:r>
            <a:endParaRPr sz="3500" b="1" dirty="0">
              <a:solidFill>
                <a:srgbClr val="171744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5CDB9F-FEAF-F13B-02D9-FD7ACF5AB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50" y="1106498"/>
            <a:ext cx="9094265" cy="5529251"/>
          </a:xfrm>
          <a:prstGeom prst="rect">
            <a:avLst/>
          </a:prstGeom>
          <a:ln w="57150">
            <a:solidFill>
              <a:srgbClr val="F1B25D"/>
            </a:solidFill>
          </a:ln>
        </p:spPr>
      </p:pic>
    </p:spTree>
    <p:extLst>
      <p:ext uri="{BB962C8B-B14F-4D97-AF65-F5344CB8AC3E}">
        <p14:creationId xmlns:p14="http://schemas.microsoft.com/office/powerpoint/2010/main" val="334282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EEB6565-5FAA-949F-AAC5-C3A3797E9C83}"/>
              </a:ext>
            </a:extLst>
          </p:cNvPr>
          <p:cNvGrpSpPr/>
          <p:nvPr/>
        </p:nvGrpSpPr>
        <p:grpSpPr>
          <a:xfrm>
            <a:off x="-96688" y="-20383"/>
            <a:ext cx="12301027" cy="6858002"/>
            <a:chOff x="263352" y="-2"/>
            <a:chExt cx="12301027" cy="6858002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7C41923F-C2FB-BA0A-DE9E-25F0A478F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 flipV="1">
              <a:off x="263352" y="-2"/>
              <a:ext cx="12301027" cy="6858002"/>
            </a:xfrm>
            <a:prstGeom prst="rect">
              <a:avLst/>
            </a:prstGeom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B220C267-716D-9514-AC10-25EE67AEC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683" t="7247" r="22037" b="6653"/>
            <a:stretch>
              <a:fillRect/>
            </a:stretch>
          </p:blipFill>
          <p:spPr>
            <a:xfrm flipH="1">
              <a:off x="685999" y="1433157"/>
              <a:ext cx="4094468" cy="4480566"/>
            </a:xfrm>
            <a:prstGeom prst="rect">
              <a:avLst/>
            </a:prstGeom>
          </p:spPr>
        </p:pic>
      </p:grp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E1D8A8-C230-4A69-9628-E58AFD43EAC1}"/>
              </a:ext>
            </a:extLst>
          </p:cNvPr>
          <p:cNvSpPr>
            <a:spLocks noGrp="1"/>
          </p:cNvSpPr>
          <p:nvPr/>
        </p:nvSpPr>
        <p:spPr>
          <a:xfrm>
            <a:off x="191344" y="553796"/>
            <a:ext cx="9178698" cy="115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8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КАК ПРОИСХОДИТ </a:t>
            </a:r>
            <a:r>
              <a:rPr lang="ru-RU" sz="3500" b="1" dirty="0">
                <a:solidFill>
                  <a:srgbClr val="F6365F"/>
                </a:solidFill>
                <a:latin typeface="Arial Black" panose="020B0A04020102020204" pitchFamily="34" charset="0"/>
                <a:ea typeface="Arial"/>
                <a:cs typeface="Arial"/>
              </a:rPr>
              <a:t>ПОДБОР</a:t>
            </a: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 КУРСА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4EC136-7AEF-EA64-07F3-D37EEF3FF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137" y="6443143"/>
            <a:ext cx="1072244" cy="5048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E1095F-9FF7-B975-1C93-25A740E677BC}"/>
              </a:ext>
            </a:extLst>
          </p:cNvPr>
          <p:cNvSpPr txBox="1"/>
          <p:nvPr/>
        </p:nvSpPr>
        <p:spPr>
          <a:xfrm>
            <a:off x="4583832" y="1563172"/>
            <a:ext cx="752251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600" dirty="0" err="1">
                <a:latin typeface="Arial Narrow" panose="020B0606020202030204" pitchFamily="34" charset="0"/>
              </a:rPr>
              <a:t>React</a:t>
            </a:r>
            <a:r>
              <a:rPr lang="ru-RU" sz="2600" dirty="0">
                <a:latin typeface="Arial Narrow" panose="020B0606020202030204" pitchFamily="34" charset="0"/>
              </a:rPr>
              <a:t> → </a:t>
            </a:r>
            <a:r>
              <a:rPr lang="ru-RU" sz="2600" dirty="0" err="1">
                <a:latin typeface="Arial Narrow" panose="020B0606020202030204" pitchFamily="34" charset="0"/>
              </a:rPr>
              <a:t>asp.Net</a:t>
            </a:r>
            <a:r>
              <a:rPr lang="ru-RU" sz="2600" dirty="0">
                <a:latin typeface="Arial Narrow" panose="020B0606020202030204" pitchFamily="34" charset="0"/>
              </a:rPr>
              <a:t> </a:t>
            </a:r>
            <a:r>
              <a:rPr lang="ru-RU" sz="2600" dirty="0" err="1">
                <a:latin typeface="Arial Narrow" panose="020B0606020202030204" pitchFamily="34" charset="0"/>
              </a:rPr>
              <a:t>core</a:t>
            </a:r>
            <a:r>
              <a:rPr lang="ru-RU" sz="2600" dirty="0">
                <a:latin typeface="Arial Narrow" panose="020B0606020202030204" pitchFamily="34" charset="0"/>
              </a:rPr>
              <a:t> </a:t>
            </a:r>
            <a:r>
              <a:rPr lang="ru-RU" sz="2600" dirty="0" err="1">
                <a:latin typeface="Arial Narrow" panose="020B0606020202030204" pitchFamily="34" charset="0"/>
              </a:rPr>
              <a:t>api</a:t>
            </a:r>
            <a:r>
              <a:rPr lang="ru-RU" sz="2600" dirty="0">
                <a:latin typeface="Arial Narrow" panose="020B0606020202030204" pitchFamily="34" charset="0"/>
              </a:rPr>
              <a:t> → </a:t>
            </a:r>
            <a:r>
              <a:rPr lang="ru-RU" sz="2600" dirty="0" err="1">
                <a:latin typeface="Arial Narrow" panose="020B0606020202030204" pitchFamily="34" charset="0"/>
              </a:rPr>
              <a:t>fastapi</a:t>
            </a:r>
            <a:r>
              <a:rPr lang="ru-RU" sz="2600" dirty="0">
                <a:latin typeface="Arial Narrow" panose="020B0606020202030204" pitchFamily="34" charset="0"/>
              </a:rPr>
              <a:t> </a:t>
            </a:r>
            <a:r>
              <a:rPr lang="ru-RU" sz="2600" dirty="0" err="1">
                <a:latin typeface="Arial Narrow" panose="020B0606020202030204" pitchFamily="34" charset="0"/>
              </a:rPr>
              <a:t>ai-driver</a:t>
            </a:r>
            <a:r>
              <a:rPr lang="ru-RU" sz="2600" dirty="0">
                <a:latin typeface="Arial Narrow" panose="020B0606020202030204" pitchFamily="34" charset="0"/>
              </a:rPr>
              <a:t> профиль отправляется асинхронной задачей, результат траектории сохраняется в </a:t>
            </a:r>
            <a:r>
              <a:rPr lang="ru-RU" sz="2600" dirty="0" err="1">
                <a:latin typeface="Arial Narrow" panose="020B0606020202030204" pitchFamily="34" charset="0"/>
              </a:rPr>
              <a:t>task_id</a:t>
            </a:r>
            <a:endParaRPr lang="ru-RU" sz="2600" dirty="0"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FECB97-1512-5BBE-2366-A162BC08D2DA}"/>
              </a:ext>
            </a:extLst>
          </p:cNvPr>
          <p:cNvSpPr txBox="1"/>
          <p:nvPr/>
        </p:nvSpPr>
        <p:spPr>
          <a:xfrm>
            <a:off x="4579805" y="3259639"/>
            <a:ext cx="748691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600" dirty="0">
                <a:latin typeface="Arial Narrow" panose="020B0606020202030204" pitchFamily="34" charset="0"/>
              </a:rPr>
              <a:t>Python-сервис строит </a:t>
            </a:r>
            <a:r>
              <a:rPr lang="ru-RU" sz="2600" dirty="0" err="1">
                <a:latin typeface="Arial Narrow" panose="020B0606020202030204" pitchFamily="34" charset="0"/>
              </a:rPr>
              <a:t>available_catalog</a:t>
            </a:r>
            <a:r>
              <a:rPr lang="ru-RU" sz="2600" dirty="0">
                <a:latin typeface="Arial Narrow" panose="020B0606020202030204" pitchFamily="34" charset="0"/>
              </a:rPr>
              <a:t>: нормализует статусы истории, исключает завершённые курсы по ключу </a:t>
            </a:r>
            <a:r>
              <a:rPr lang="ru-RU" sz="2600" dirty="0" err="1">
                <a:latin typeface="Arial Narrow" panose="020B0606020202030204" pitchFamily="34" charset="0"/>
              </a:rPr>
              <a:t>position</a:t>
            </a:r>
            <a:r>
              <a:rPr lang="ru-RU" sz="2600" dirty="0">
                <a:latin typeface="Arial Narrow" panose="020B0606020202030204" pitchFamily="34" charset="0"/>
              </a:rPr>
              <a:t> + </a:t>
            </a:r>
            <a:r>
              <a:rPr lang="ru-RU" sz="2600" dirty="0" err="1">
                <a:latin typeface="Arial Narrow" panose="020B0606020202030204" pitchFamily="34" charset="0"/>
              </a:rPr>
              <a:t>department</a:t>
            </a:r>
            <a:endParaRPr lang="ru-RU" sz="2600" dirty="0">
              <a:latin typeface="Arial Narrow" panose="020B0606020202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9C598F-5D51-D110-377B-474517D485B4}"/>
              </a:ext>
            </a:extLst>
          </p:cNvPr>
          <p:cNvSpPr txBox="1"/>
          <p:nvPr/>
        </p:nvSpPr>
        <p:spPr>
          <a:xfrm>
            <a:off x="4583832" y="5064255"/>
            <a:ext cx="568863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600" dirty="0">
                <a:latin typeface="Arial Narrow" panose="020B0606020202030204" pitchFamily="34" charset="0"/>
              </a:rPr>
              <a:t>На выходе сервер валидирует и обогащает курсы метаданными из </a:t>
            </a:r>
            <a:r>
              <a:rPr lang="ru-RU" sz="2600" dirty="0" err="1">
                <a:latin typeface="Arial Narrow" panose="020B0606020202030204" pitchFamily="34" charset="0"/>
              </a:rPr>
              <a:t>json</a:t>
            </a:r>
            <a:r>
              <a:rPr lang="ru-RU" sz="2600" dirty="0">
                <a:latin typeface="Arial Narrow" panose="020B0606020202030204" pitchFamily="34" charset="0"/>
              </a:rPr>
              <a:t>-каталога</a:t>
            </a:r>
          </a:p>
        </p:txBody>
      </p:sp>
    </p:spTree>
    <p:extLst>
      <p:ext uri="{BB962C8B-B14F-4D97-AF65-F5344CB8AC3E}">
        <p14:creationId xmlns:p14="http://schemas.microsoft.com/office/powerpoint/2010/main" val="28051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7FC04-633B-36E5-83BD-DB05FCFEE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1FB1D2-21B6-C93C-F1E9-EE394A171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-1136"/>
            <a:ext cx="12185522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5D2FBF1-A519-05F1-3A70-E8558ECFCC49}"/>
              </a:ext>
            </a:extLst>
          </p:cNvPr>
          <p:cNvSpPr>
            <a:spLocks noGrp="1"/>
          </p:cNvSpPr>
          <p:nvPr/>
        </p:nvSpPr>
        <p:spPr>
          <a:xfrm>
            <a:off x="263352" y="548680"/>
            <a:ext cx="7488832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>
              <a:lnSpc>
                <a:spcPct val="8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ru-RU" sz="3500" b="1" dirty="0">
                <a:solidFill>
                  <a:srgbClr val="171744"/>
                </a:solidFill>
                <a:latin typeface="Arial Black" panose="020B0A04020102020204" pitchFamily="34" charset="0"/>
                <a:ea typeface="Arial"/>
                <a:cs typeface="Arial"/>
              </a:rPr>
              <a:t>ДАЛЬНЕЙШЕЕ РАЗВИТИЕ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57C630-859D-D718-6192-064D8E6D1452}"/>
              </a:ext>
            </a:extLst>
          </p:cNvPr>
          <p:cNvSpPr txBox="1"/>
          <p:nvPr/>
        </p:nvSpPr>
        <p:spPr>
          <a:xfrm>
            <a:off x="237496" y="1372461"/>
            <a:ext cx="6559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>
                <a:solidFill>
                  <a:srgbClr val="171744"/>
                </a:solidFill>
                <a:latin typeface="Arial Narrow" panose="020B0606020202030204" pitchFamily="34" charset="0"/>
              </a:rPr>
              <a:t>ИНТЕГРАЦИЯ С LMS И ОБРАЗОВАТЕЛЬНЫМИ ПЛАТФОРМАМИ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63D76-2F41-9395-6B7D-9BD2B14439EF}"/>
              </a:ext>
            </a:extLst>
          </p:cNvPr>
          <p:cNvSpPr txBox="1"/>
          <p:nvPr/>
        </p:nvSpPr>
        <p:spPr>
          <a:xfrm>
            <a:off x="237496" y="2608318"/>
            <a:ext cx="67474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>
                <a:solidFill>
                  <a:srgbClr val="171744"/>
                </a:solidFill>
                <a:latin typeface="Arial Narrow" panose="020B0606020202030204" pitchFamily="34" charset="0"/>
              </a:rPr>
              <a:t>РЕГУЛЯРНАЯ ДИАГНОСТИКА И ОБНОВЛЕНИЕ ИНДИВИДУАЛЬНОГО ПЛАНА</a:t>
            </a:r>
          </a:p>
        </p:txBody>
      </p:sp>
    </p:spTree>
    <p:extLst>
      <p:ext uri="{BB962C8B-B14F-4D97-AF65-F5344CB8AC3E}">
        <p14:creationId xmlns:p14="http://schemas.microsoft.com/office/powerpoint/2010/main" val="1339946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C4F0A5-60FD-405F-AB05-725CBFBA26F1}"/>
              </a:ext>
            </a:extLst>
          </p:cNvPr>
          <p:cNvSpPr>
            <a:spLocks noGrp="1"/>
          </p:cNvSpPr>
          <p:nvPr/>
        </p:nvSpPr>
        <p:spPr>
          <a:xfrm>
            <a:off x="263352" y="548680"/>
            <a:ext cx="4191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167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lang="ru-RU" sz="3750" b="1" dirty="0">
                <a:solidFill>
                  <a:srgbClr val="FFF8EE"/>
                </a:solidFill>
                <a:latin typeface="Arial Black" panose="020B0A04020102020204" pitchFamily="34" charset="0"/>
                <a:ea typeface="Arial"/>
                <a:cs typeface="Arial"/>
              </a:rPr>
              <a:t>БЛАГОДАРИМ ЗА ВНИМАНИЕ! </a:t>
            </a:r>
          </a:p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endParaRPr sz="3750" b="1" dirty="0">
              <a:solidFill>
                <a:srgbClr val="FFF8EE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5752" y="3345582"/>
            <a:ext cx="2880320" cy="288032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A1FD203-5B95-6D93-90AF-BD711CD5E2E2}"/>
              </a:ext>
            </a:extLst>
          </p:cNvPr>
          <p:cNvSpPr>
            <a:spLocks noGrp="1"/>
          </p:cNvSpPr>
          <p:nvPr/>
        </p:nvSpPr>
        <p:spPr>
          <a:xfrm>
            <a:off x="415752" y="701080"/>
            <a:ext cx="4191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167"/>
          </a:bodyPr>
          <a:lstStyle/>
          <a:p>
            <a:pPr algn="l">
              <a:lnSpc>
                <a:spcPct val="90000"/>
              </a:lnSpc>
              <a:buNone/>
              <a:defRPr sz="3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endParaRPr sz="3750" b="1" dirty="0">
              <a:solidFill>
                <a:srgbClr val="FFF8EE"/>
              </a:solidFill>
              <a:latin typeface="Arial Black" panose="020B0A040201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204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826</Words>
  <Application>Microsoft Office PowerPoint</Application>
  <DocSecurity>0</DocSecurity>
  <PresentationFormat>Широкоэкранный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 Black</vt:lpstr>
      <vt:lpstr>Arial Black</vt:lpstr>
      <vt:lpstr>Arial Narrow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 Valaeva</cp:lastModifiedBy>
  <cp:revision>13</cp:revision>
  <dcterms:created xsi:type="dcterms:W3CDTF">2026-08-22T20:06:34Z</dcterms:created>
  <dcterms:modified xsi:type="dcterms:W3CDTF">2026-08-26T20:52:51Z</dcterms:modified>
</cp:coreProperties>
</file>